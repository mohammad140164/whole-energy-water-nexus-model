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547B2-03EE-4551-AE4F-2B7EE8D7A49A}" v="6" dt="2026-07-09T17:07:43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227" d="100"/>
          <a:sy n="227" d="100"/>
        </p:scale>
        <p:origin x="-4954" y="-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modSld">
      <pc:chgData name="Mohammad Hemmati" userId="5e4c8864-b60e-4c33-9ab5-79becc45a124" providerId="ADAL" clId="{0AA367D0-20A9-4589-BF11-3BD43FA0EB4A}" dt="2026-07-09T17:19:55.937" v="18" actId="1037"/>
      <pc:docMkLst>
        <pc:docMk/>
      </pc:docMkLst>
      <pc:sldChg chg="modSp mod">
        <pc:chgData name="Mohammad Hemmati" userId="5e4c8864-b60e-4c33-9ab5-79becc45a124" providerId="ADAL" clId="{0AA367D0-20A9-4589-BF11-3BD43FA0EB4A}" dt="2026-07-09T17:19:55.937" v="18" actId="1037"/>
        <pc:sldMkLst>
          <pc:docMk/>
          <pc:sldMk cId="1176773123" sldId="256"/>
        </pc:sldMkLst>
        <pc:graphicFrameChg chg="mod">
          <ac:chgData name="Mohammad Hemmati" userId="5e4c8864-b60e-4c33-9ab5-79becc45a124" providerId="ADAL" clId="{0AA367D0-20A9-4589-BF11-3BD43FA0EB4A}" dt="2026-07-09T17:07:43.969" v="15" actId="255"/>
          <ac:graphicFrameMkLst>
            <pc:docMk/>
            <pc:sldMk cId="1176773123" sldId="256"/>
            <ac:graphicFrameMk id="4" creationId="{D17CF77F-73E0-FEC0-0321-C2B9AFFFDE8D}"/>
          </ac:graphicFrameMkLst>
        </pc:graphicFrameChg>
        <pc:cxnChg chg="mod">
          <ac:chgData name="Mohammad Hemmati" userId="5e4c8864-b60e-4c33-9ab5-79becc45a124" providerId="ADAL" clId="{0AA367D0-20A9-4589-BF11-3BD43FA0EB4A}" dt="2026-07-09T17:07:12.159" v="11" actId="1038"/>
          <ac:cxnSpMkLst>
            <pc:docMk/>
            <pc:sldMk cId="1176773123" sldId="256"/>
            <ac:cxnSpMk id="13" creationId="{F89557D5-7C8D-1449-ADB0-3A0D3A06D614}"/>
          </ac:cxnSpMkLst>
        </pc:cxnChg>
        <pc:cxnChg chg="mod">
          <ac:chgData name="Mohammad Hemmati" userId="5e4c8864-b60e-4c33-9ab5-79becc45a124" providerId="ADAL" clId="{0AA367D0-20A9-4589-BF11-3BD43FA0EB4A}" dt="2026-07-09T17:19:40.934" v="17" actId="1037"/>
          <ac:cxnSpMkLst>
            <pc:docMk/>
            <pc:sldMk cId="1176773123" sldId="256"/>
            <ac:cxnSpMk id="14" creationId="{351D3C55-1CE1-2D48-0640-67C200FFD29D}"/>
          </ac:cxnSpMkLst>
        </pc:cxnChg>
        <pc:cxnChg chg="mod">
          <ac:chgData name="Mohammad Hemmati" userId="5e4c8864-b60e-4c33-9ab5-79becc45a124" providerId="ADAL" clId="{0AA367D0-20A9-4589-BF11-3BD43FA0EB4A}" dt="2026-07-09T17:19:55.937" v="18" actId="1037"/>
          <ac:cxnSpMkLst>
            <pc:docMk/>
            <pc:sldMk cId="1176773123" sldId="256"/>
            <ac:cxnSpMk id="15" creationId="{32C60B43-B08D-3B91-03E7-804EE04B23F8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uclac-my.sharepoint.com/personal/ucecemm_ucl_ac_uk/Documents/Desktop/Tem_Awar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Electricity Consumption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Sheet1!$C$3:$F$3</c:f>
              <c:strCache>
                <c:ptCount val="4"/>
                <c:pt idx="0">
                  <c:v>Scenario 1</c:v>
                </c:pt>
                <c:pt idx="1">
                  <c:v>Scenario 2</c:v>
                </c:pt>
                <c:pt idx="2">
                  <c:v>Scenario 3</c:v>
                </c:pt>
                <c:pt idx="3">
                  <c:v>Scenario 4</c:v>
                </c:pt>
              </c:strCache>
            </c:strRef>
          </c:cat>
          <c:val>
            <c:numRef>
              <c:f>Sheet1!$C$4:$F$4</c:f>
              <c:numCache>
                <c:formatCode>General</c:formatCode>
                <c:ptCount val="4"/>
                <c:pt idx="0">
                  <c:v>18209</c:v>
                </c:pt>
                <c:pt idx="1">
                  <c:v>18271</c:v>
                </c:pt>
                <c:pt idx="2">
                  <c:v>18366</c:v>
                </c:pt>
                <c:pt idx="3">
                  <c:v>18462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D9-479D-96F7-B5F15B1772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2571887"/>
        <c:axId val="2267919"/>
      </c:barChart>
      <c:lineChart>
        <c:grouping val="standard"/>
        <c:varyColors val="0"/>
        <c:ser>
          <c:idx val="1"/>
          <c:order val="1"/>
          <c:tx>
            <c:strRef>
              <c:f>Sheet1!$B$5</c:f>
              <c:strCache>
                <c:ptCount val="1"/>
                <c:pt idx="0">
                  <c:v>Water Consumption</c:v>
                </c:pt>
              </c:strCache>
            </c:strRef>
          </c:tx>
          <c:spPr>
            <a:ln w="3810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14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Sheet1!$C$3:$F$3</c:f>
              <c:strCache>
                <c:ptCount val="4"/>
                <c:pt idx="0">
                  <c:v>Scenario 1</c:v>
                </c:pt>
                <c:pt idx="1">
                  <c:v>Scenario 2</c:v>
                </c:pt>
                <c:pt idx="2">
                  <c:v>Scenario 3</c:v>
                </c:pt>
                <c:pt idx="3">
                  <c:v>Scenario 4</c:v>
                </c:pt>
              </c:strCache>
            </c:strRef>
          </c:cat>
          <c:val>
            <c:numRef>
              <c:f>Sheet1!$C$5:$F$5</c:f>
              <c:numCache>
                <c:formatCode>General</c:formatCode>
                <c:ptCount val="4"/>
                <c:pt idx="0">
                  <c:v>7.8</c:v>
                </c:pt>
                <c:pt idx="1">
                  <c:v>9.4</c:v>
                </c:pt>
                <c:pt idx="2">
                  <c:v>11.3</c:v>
                </c:pt>
                <c:pt idx="3">
                  <c:v>13.54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D9-479D-96F7-B5F15B1772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7657360"/>
        <c:axId val="2116719"/>
      </c:lineChart>
      <c:catAx>
        <c:axId val="12571887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2267919"/>
        <c:crosses val="autoZero"/>
        <c:auto val="1"/>
        <c:lblAlgn val="ctr"/>
        <c:lblOffset val="100"/>
        <c:noMultiLvlLbl val="0"/>
      </c:catAx>
      <c:valAx>
        <c:axId val="22679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r>
                  <a:rPr lang="en-GB" sz="1600" b="1" dirty="0">
                    <a:solidFill>
                      <a:schemeClr val="bg1">
                        <a:lumMod val="50000"/>
                      </a:schemeClr>
                    </a:solidFill>
                  </a:rPr>
                  <a:t>Annual Electricity</a:t>
                </a:r>
                <a:r>
                  <a:rPr lang="en-GB" sz="1600" b="1" baseline="0" dirty="0">
                    <a:solidFill>
                      <a:schemeClr val="bg1">
                        <a:lumMod val="50000"/>
                      </a:schemeClr>
                    </a:solidFill>
                  </a:rPr>
                  <a:t> Consumption (GWh)</a:t>
                </a:r>
                <a:endParaRPr lang="en-GB" sz="1600" b="1" dirty="0">
                  <a:solidFill>
                    <a:schemeClr val="bg1">
                      <a:lumMod val="50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8.9599597922600093E-3"/>
              <c:y val="6.5168245951438705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50000"/>
                    </a:schemeClr>
                  </a:solidFill>
                  <a:latin typeface="Palatino Linotype" panose="02040502050505030304" pitchFamily="18" charset="0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12571887"/>
        <c:crosses val="autoZero"/>
        <c:crossBetween val="between"/>
      </c:valAx>
      <c:valAx>
        <c:axId val="211671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500" b="1" i="0" u="none" strike="noStrike" kern="1200" baseline="0">
                    <a:solidFill>
                      <a:srgbClr val="0070C0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r>
                  <a:rPr lang="en-GB" sz="1500" b="1" dirty="0">
                    <a:solidFill>
                      <a:srgbClr val="0070C0"/>
                    </a:solidFill>
                  </a:rPr>
                  <a:t>Annual Water Consumption</a:t>
                </a:r>
                <a:r>
                  <a:rPr lang="en-GB" sz="1500" b="1" baseline="0" dirty="0">
                    <a:solidFill>
                      <a:srgbClr val="0070C0"/>
                    </a:solidFill>
                  </a:rPr>
                  <a:t> (million Litre)</a:t>
                </a:r>
                <a:endParaRPr lang="en-GB" sz="1500" b="1" dirty="0">
                  <a:solidFill>
                    <a:srgbClr val="0070C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500" b="1" i="0" u="none" strike="noStrike" kern="1200" baseline="0">
                  <a:solidFill>
                    <a:srgbClr val="0070C0"/>
                  </a:solidFill>
                  <a:latin typeface="Palatino Linotype" panose="02040502050505030304" pitchFamily="18" charset="0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rgbClr val="0070C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70C0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2087657360"/>
        <c:crosses val="max"/>
        <c:crossBetween val="between"/>
      </c:valAx>
      <c:catAx>
        <c:axId val="20876573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1167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993F-F80A-2587-BCB4-5E99ECA1D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FA925-E5EA-3194-E5A8-1C8832DA0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4D59F-9D23-C782-12C5-822C0276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9D9B0-D636-7E97-0D5A-AE3C8FD1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C816A-0B78-B5C7-A6C7-7A1AAA9B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524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3DC5-1932-9E8E-3C07-896C0727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D967-7CB0-1E87-E3D9-62BDADEBE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5B36F-52C3-EFB4-3073-AB8BCF0E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D7DCE-3F1D-6212-3F2E-71513041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2FDBF-A63A-6C4E-2925-5A11F1DC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3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9C4F2-1D66-3CE0-4C6D-4BED71FE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81FC-EE43-DDDF-E901-5E7651ECB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45380-03D0-C606-EB5C-BF4348EC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45B0-EADD-F536-FCD4-A2AD66BE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C650D-4F44-774F-FF30-7CDDFA29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57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716A-D654-AEC9-6693-9883E618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6FFA4-7C50-ECE4-250C-CCCCE139A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3DB2D-FF9C-398A-DF7D-FBE35D79B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CB017-092F-8673-F6D3-BF1F4711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E1CCB-3A9C-CAE6-6303-057BD9DC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1CA1B-D7BF-5A85-753F-BE5F7B0B0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89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0DF7-5AB9-D468-6175-D107ADF2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103C9-4FDE-58B2-FC38-0B36E733B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DBCDE-F8D6-8397-211A-66A89B49B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36308-2DF5-960E-E609-4F123139C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A5D21-7D09-75CF-AF2F-F292117D3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3EA92D-53FF-A5BC-24BF-671AB539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02BCF-AC88-EF1B-72DE-E724A5AEA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87D7E-61FB-5CB7-BA4F-83BD23626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9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9F7E-44C6-D712-85CE-6A6282D1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ACD2C-EE9F-004D-8C85-4AD0169C1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A6D6E-3326-829D-B9F8-19614E80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61CB6-4903-C8ED-BE5C-F18EA03D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976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C4FAF-5443-38AF-903D-3C5B00C9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5DF33-68FB-FCE7-1F1D-836B9C0C7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56B5B-D73E-1263-3F85-F7087E82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770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008CC-44E3-3472-13AA-6EAD2F3B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CBB53-C3DD-C9C1-33E6-06EC69194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4B230-3FB2-978B-D6AE-1AAF02232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104C3-F263-1007-399F-CBDA2B98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85146-BB26-DA4E-57D7-D2A0BF16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7A3A7-7254-4324-BF13-656869F6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5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F929-1963-6D3F-921F-F35A5AC0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C9A71-2184-EA5C-170B-BE070D060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650B4-8B6C-5AAB-8433-0C9741BF3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7C389-0015-AE17-B930-5DA1FEFE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58E25-7876-012A-B325-571CABB91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CA6A8-FCB6-68F3-D62F-BAD2079D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45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9D66-2DC4-E4F9-3C61-AC12896F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66A0E-34B2-7435-B7A9-B82200862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6BEAE-D054-E9CF-F59B-4963F7EE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66335-BBC2-CEAE-B7D3-431747C3D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A652D-C52A-5D02-9AAD-CA204C7C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00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6CE-A791-7905-8A3A-73EFA0510D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6D69B-877A-22D7-C5F0-3FAC3CB37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94D96-407F-E68E-60DA-9D08A557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5523F-EC1A-91FC-D2B7-FFD5D4AB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91F3-7508-2368-22E3-68C8BBD7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57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63854-0E89-173E-908E-0275B1216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C40DA-DC0D-794C-8371-7D076FCB3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CFEBA-78E4-3786-C515-2CCEC6EEF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0B668-DE44-425F-BDD8-E320A4CA17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474F3-4A45-EEBB-38B6-8B204FDFD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A4BAA-3471-A3A3-ECF8-E42EEA126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0C1D9-FA54-47F8-B57E-16C3101D0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82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4549872A-6C46-35EF-418A-BD0F08ED294F}"/>
              </a:ext>
            </a:extLst>
          </p:cNvPr>
          <p:cNvGrpSpPr/>
          <p:nvPr/>
        </p:nvGrpSpPr>
        <p:grpSpPr>
          <a:xfrm>
            <a:off x="1158761" y="69568"/>
            <a:ext cx="8953500" cy="6523344"/>
            <a:chOff x="1158761" y="69568"/>
            <a:chExt cx="8953500" cy="652334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B6AF0D3-E49A-210C-E3E6-FA9DDEC2C028}"/>
                </a:ext>
              </a:extLst>
            </p:cNvPr>
            <p:cNvGrpSpPr/>
            <p:nvPr/>
          </p:nvGrpSpPr>
          <p:grpSpPr>
            <a:xfrm>
              <a:off x="1158761" y="545640"/>
              <a:ext cx="8953500" cy="6047272"/>
              <a:chOff x="1162050" y="545640"/>
              <a:chExt cx="8953500" cy="6047272"/>
            </a:xfrm>
          </p:grpSpPr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D17CF77F-73E0-FEC0-0321-C2B9AFFFDE8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17163885"/>
                  </p:ext>
                </p:extLst>
              </p:nvPr>
            </p:nvGraphicFramePr>
            <p:xfrm>
              <a:off x="1162050" y="1460842"/>
              <a:ext cx="8953500" cy="513207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D5D21E-4CEC-341A-274C-B722B67BCBC5}"/>
                  </a:ext>
                </a:extLst>
              </p:cNvPr>
              <p:cNvSpPr txBox="1"/>
              <p:nvPr/>
            </p:nvSpPr>
            <p:spPr>
              <a:xfrm>
                <a:off x="2528638" y="1002324"/>
                <a:ext cx="15298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Palatino Linotype" panose="02040502050505030304" pitchFamily="18" charset="0"/>
                  </a:rPr>
                  <a:t>Avg: 10.65 °C</a:t>
                </a:r>
              </a:p>
              <a:p>
                <a:r>
                  <a:rPr lang="en-GB" sz="1400" dirty="0">
                    <a:latin typeface="Palatino Linotype" panose="02040502050505030304" pitchFamily="18" charset="0"/>
                  </a:rPr>
                  <a:t>Max: 29.17 °C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71E6CB-3C78-02F8-2629-3A194122CA32}"/>
                  </a:ext>
                </a:extLst>
              </p:cNvPr>
              <p:cNvSpPr txBox="1"/>
              <p:nvPr/>
            </p:nvSpPr>
            <p:spPr>
              <a:xfrm>
                <a:off x="4177533" y="1002324"/>
                <a:ext cx="15298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Palatino Linotype" panose="02040502050505030304" pitchFamily="18" charset="0"/>
                  </a:rPr>
                  <a:t>Avg: 10.96 °C</a:t>
                </a:r>
              </a:p>
              <a:p>
                <a:r>
                  <a:rPr lang="en-GB" sz="1400" dirty="0">
                    <a:latin typeface="Palatino Linotype" panose="02040502050505030304" pitchFamily="18" charset="0"/>
                  </a:rPr>
                  <a:t>Max: 31.03 °C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F0A79A-A077-FD8C-FEA1-001639C11A59}"/>
                  </a:ext>
                </a:extLst>
              </p:cNvPr>
              <p:cNvSpPr txBox="1"/>
              <p:nvPr/>
            </p:nvSpPr>
            <p:spPr>
              <a:xfrm>
                <a:off x="6020302" y="1002324"/>
                <a:ext cx="15298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Palatino Linotype" panose="02040502050505030304" pitchFamily="18" charset="0"/>
                  </a:rPr>
                  <a:t>Avg: 11.28 °C</a:t>
                </a:r>
              </a:p>
              <a:p>
                <a:r>
                  <a:rPr lang="en-GB" sz="1400" dirty="0">
                    <a:latin typeface="Palatino Linotype" panose="02040502050505030304" pitchFamily="18" charset="0"/>
                  </a:rPr>
                  <a:t>Max: 33.13 °C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C7D495-F8BB-B6D1-FF0A-776A7B48E427}"/>
                  </a:ext>
                </a:extLst>
              </p:cNvPr>
              <p:cNvSpPr txBox="1"/>
              <p:nvPr/>
            </p:nvSpPr>
            <p:spPr>
              <a:xfrm>
                <a:off x="7882363" y="1002324"/>
                <a:ext cx="15298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Palatino Linotype" panose="02040502050505030304" pitchFamily="18" charset="0"/>
                  </a:rPr>
                  <a:t>Avg: 11.58 °C</a:t>
                </a:r>
              </a:p>
              <a:p>
                <a:r>
                  <a:rPr lang="en-GB" sz="1400" dirty="0">
                    <a:latin typeface="Palatino Linotype" panose="02040502050505030304" pitchFamily="18" charset="0"/>
                  </a:rPr>
                  <a:t>Max: 35.14 °C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89557D5-7C8D-1449-ADB0-3A0D3A06D614}"/>
                  </a:ext>
                </a:extLst>
              </p:cNvPr>
              <p:cNvCxnSpPr/>
              <p:nvPr/>
            </p:nvCxnSpPr>
            <p:spPr>
              <a:xfrm flipV="1">
                <a:off x="3964757" y="545640"/>
                <a:ext cx="0" cy="1081454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51D3C55-1CE1-2D48-0640-67C200FFD29D}"/>
                  </a:ext>
                </a:extLst>
              </p:cNvPr>
              <p:cNvCxnSpPr/>
              <p:nvPr/>
            </p:nvCxnSpPr>
            <p:spPr>
              <a:xfrm flipV="1">
                <a:off x="5758700" y="606604"/>
                <a:ext cx="0" cy="1081454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2C60B43-B08D-3B91-03E7-804EE04B23F8}"/>
                  </a:ext>
                </a:extLst>
              </p:cNvPr>
              <p:cNvCxnSpPr/>
              <p:nvPr/>
            </p:nvCxnSpPr>
            <p:spPr>
              <a:xfrm flipV="1">
                <a:off x="7554251" y="606604"/>
                <a:ext cx="0" cy="1081454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3E5496F-1AAD-DF8B-B29B-048AC329EE6C}"/>
                </a:ext>
              </a:extLst>
            </p:cNvPr>
            <p:cNvSpPr txBox="1"/>
            <p:nvPr/>
          </p:nvSpPr>
          <p:spPr>
            <a:xfrm>
              <a:off x="2439454" y="69568"/>
              <a:ext cx="73130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latin typeface="Palatino Linotype" panose="02040502050505030304" pitchFamily="18" charset="0"/>
                </a:rPr>
                <a:t>London Hyperscale Data Centre Energy and Water Analysis under Heatwave by 2030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6773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65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2026-07-02T15:38:17Z</dcterms:created>
  <dcterms:modified xsi:type="dcterms:W3CDTF">2026-07-09T17:19:56Z</dcterms:modified>
</cp:coreProperties>
</file>